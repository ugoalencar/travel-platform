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com a promessa: um sistema único, feito para a rotina da agência brasileira. Tudo o que aparece neste deck existe no código hoje; itens marcados com * são deduções que precisam de validação.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Elevator pitch. Primeira frase: o que é. Segunda frase: a dor que resolve, em linguagem da agência.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Dores tiradas das personas do produto (dono, gerente, vendedor). Perguntar à plateia qual delas mais dói na agência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modelo de domínio do código segue exatamente este fluxo: Wish, Offer, Proposal, Sale, Trip, Booking e operação. As entidades são separadas de propósito, o que evita o sistema virar um cadastro genérico.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ambientes compartilham o mesmo backend, mas têm login, navegação e API separados. O cliente final nunca enxerga custo, comissão ou notas internas; isso foi validado no checklist do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Código: customers, customer-documents, document-extraction (OCR com provedor plugável), document-masking e customer-engagement. O engajamento ignora revisitas repetidas em janela curta para não inflar o sinal.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Proposal Visual 2.0 foi entregue em 22/09/2026: editor com abas Capa, Conteúdo, Mídia e Prévia, e visualização mobile-first no app do cliente. Os tipos de seção são fechados (não é um page builder genérico), o que mantém toda proposta consistente.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Funcionalidade exclusiva. Tecnicamente: cada busca passa por uma proteção contra SSRF (bloqueia IPs internos e revalida em cada redirecionamento), leitura com limite de tamanho e extração por JSON, metatags e padrões de preço. Os preços não são inventados; se a fonte não traz, o campo fica vazio. Uma API de busca real por fornecedor pode ser plugada depois sem mudar o fluxo.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Módulos: commercial-cockpit (oportunidades e tarefas), pipeline-config, customer-segmentation, campaigns, coupons, enrollment e whatsapp-link. O exemplo de segmento é ilustrativo; confira na demo quais campos estão disponíveis (último contato, tipo de viagem, ticket médio, recebível vencido, cidade, entre outros).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Ciclo da comissão: pendente, aprovada, a pagar, paga (ou cancelada). Criar uma nova regra fecha automaticamente a anterior, sem sobrescrever. O painel financeiro não recalcula nada no navegador: os números vêm prontos do servidor, o que evita divergência entre telas.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9 gates do CI: lint, typecheck, varredura de segredos, auditoria de dependências, validação de migrations, testes unitários, testes de segurança, testes de banco e RLS, build. O gate de dependências chegou a bloquear um deploy por causa de uma biblioteca vulnerável (xlsx), que foi removida. Restore testado: 157 tabelas íntegras, zero chave estrangeira órfã.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Monorepo com npm workspaces e Turborepo: 4 apps (marketing, agência, cliente, admin da plataforma), 1 API e pacotes compartilhados de domínio e banco. SQL é a fonte de verdade do schema (91 migrations), com Prisma derivado por introspecção.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no repositório: o gap analysis de enriquecimento comercial coloca link público de proposta como P2 (depende da Proposta Visual, já entregue) e Day-by-Day como P1. WhatsApp hoje é só link wa.me; a fase 2 prevista é a API Business. Também documentados: conciliação bancária por arquivo (OFX) e importação de dados de sistemas anteriores.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copiados de apps/marketing/src/pages/PricingPage.tsx. A página não diz se o valor é mensal. A Central de Importação existe em MVP (migration 082); confirmar se vira serviço incluso ou pago.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Chamada para ação: agendar demo e entrar no piloto. Substituir o placeholder de contato.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1F38"/>
              </a:gs>
              <a:gs pos="55000">
                <a:srgbClr val="0F2A4A"/>
              </a:gs>
              <a:gs pos="100000">
                <a:srgbClr val="123B63"/>
              </a:gs>
            </a:gsLst>
            <a:lin ang="2700000" scaled="0"/>
          </a:gradFill>
          <a:ln/>
        </p:spPr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74000" y="0"/>
            <a:ext cx="4826000" cy="4826000"/>
          </a:xfrm>
          <a:prstGeom prst="rect">
            <a:avLst/>
          </a:prstGeom>
        </p:spPr>
      </p:pic>
      <p:pic>
        <p:nvPicPr>
          <p:cNvPr id="4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98000" y="3556000"/>
            <a:ext cx="2667000" cy="2667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CASE DE APRESENTAÇÃO · PARA AGÊNCIAS DE VIAGEM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812800" y="2435225"/>
            <a:ext cx="10883392" cy="880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32"/>
              </a:lnSpc>
              <a:buNone/>
            </a:pPr>
            <a:r>
              <a:rPr lang="en-US" sz="6600" b="1" spc="-100" kern="0" dirty="0">
                <a:solidFill>
                  <a:srgbClr val="F5F8F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 Platform</a:t>
            </a:r>
            <a:endParaRPr lang="en-US" sz="6600" dirty="0"/>
          </a:p>
        </p:txBody>
      </p:sp>
      <p:sp>
        <p:nvSpPr>
          <p:cNvPr id="7" name="Text 3"/>
          <p:cNvSpPr/>
          <p:nvPr/>
        </p:nvSpPr>
        <p:spPr>
          <a:xfrm>
            <a:off x="812800" y="3544094"/>
            <a:ext cx="8110220" cy="7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BFD9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Sua agência inteira em um só sistema: do desejo do cliente ao pós-viagem.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812800" y="5661720"/>
            <a:ext cx="2331442" cy="38348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9" name="Text 5"/>
          <p:cNvSpPr/>
          <p:nvPr/>
        </p:nvSpPr>
        <p:spPr>
          <a:xfrm>
            <a:off x="990600" y="5737920"/>
            <a:ext cx="203511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travelplataforma.com.br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296642" y="5737920"/>
            <a:ext cx="148867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FD9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Setembro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4305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49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 DUAS FRASES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111970"/>
            <a:ext cx="10464800" cy="160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Travel Platform reúne clientes, propostas, vendas, operação e financeiro da agência em um único sistema na nuvem.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4044851"/>
            <a:ext cx="981075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Acaba com a planilha, o WhatsApp perdido e o retrabalho: cada venda vira viagem, cada viagem vira receita conferida, e o cliente acompanha tudo pelo celular.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 Platform · Case para agências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49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Hoje a agência trabalha em pedaços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58876"/>
            <a:ext cx="5175250" cy="1362472"/>
          </a:xfrm>
          <a:prstGeom prst="roundRect">
            <a:avLst>
              <a:gd name="adj" fmla="val 9088"/>
            </a:avLst>
          </a:prstGeom>
          <a:solidFill>
            <a:srgbClr val="FFFFFF"/>
          </a:solidFill>
          <a:ln w="6350">
            <a:solidFill>
              <a:srgbClr val="DCE5EE"/>
            </a:solidFill>
            <a:prstDash val="solid"/>
          </a:ln>
        </p:spPr>
      </p:sp>
      <p:pic>
        <p:nvPicPr>
          <p:cNvPr id="5" name="Image 0" descr="Users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1073150" y="2216051"/>
            <a:ext cx="228402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79352" y="2216051"/>
            <a:ext cx="4382339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 espalhado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79352" y="2566491"/>
            <a:ext cx="4382339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Cadastro em planilha, documentos em pasta, histórico na memória do vendedor.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00775" y="1958876"/>
            <a:ext cx="5175250" cy="1362472"/>
          </a:xfrm>
          <a:prstGeom prst="roundRect">
            <a:avLst>
              <a:gd name="adj" fmla="val 9088"/>
            </a:avLst>
          </a:prstGeom>
          <a:solidFill>
            <a:srgbClr val="FFFFFF"/>
          </a:solidFill>
          <a:ln w="6350">
            <a:solidFill>
              <a:srgbClr val="DCE5EE"/>
            </a:solidFill>
            <a:prstDash val="solid"/>
          </a:ln>
        </p:spPr>
      </p:sp>
      <p:pic>
        <p:nvPicPr>
          <p:cNvPr id="9" name="Image 1" descr="Chat">    </p:cNvPr>
          <p:cNvPicPr>
            <a:picLocks noChangeAspect="1"/>
          </p:cNvPicPr>
          <p:nvPr/>
        </p:nvPicPr>
        <p:blipFill>
          <a:blip r:embed="rId2"/>
          <a:srcRect l="0" r="0" t="-415" b="-415"/>
          <a:stretch/>
        </p:blipFill>
        <p:spPr>
          <a:xfrm>
            <a:off x="6457950" y="2216051"/>
            <a:ext cx="239316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75066" y="2216051"/>
            <a:ext cx="437109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Venda que escapa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875066" y="2566491"/>
            <a:ext cx="437109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Desejos de viagem se perdem no WhatsApp e ninguém lembra do follow-up.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5975" y="3530898"/>
            <a:ext cx="5175250" cy="1362472"/>
          </a:xfrm>
          <a:prstGeom prst="roundRect">
            <a:avLst>
              <a:gd name="adj" fmla="val 9088"/>
            </a:avLst>
          </a:prstGeom>
          <a:solidFill>
            <a:srgbClr val="FFFFFF"/>
          </a:solidFill>
          <a:ln w="6350">
            <a:solidFill>
              <a:srgbClr val="DCE5EE"/>
            </a:solidFill>
            <a:prstDash val="solid"/>
          </a:ln>
        </p:spPr>
      </p:sp>
      <p:pic>
        <p:nvPicPr>
          <p:cNvPr id="13" name="Image 2" descr="Clock">    </p:cNvPr>
          <p:cNvPicPr>
            <a:picLocks noChangeAspect="1"/>
          </p:cNvPicPr>
          <p:nvPr/>
        </p:nvPicPr>
        <p:blipFill>
          <a:blip r:embed="rId3"/>
          <a:srcRect l="-211" r="-211" t="0" b="0"/>
          <a:stretch/>
        </p:blipFill>
        <p:spPr>
          <a:xfrm>
            <a:off x="1073150" y="3788073"/>
            <a:ext cx="235942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86892" y="3788073"/>
            <a:ext cx="437457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Proposta artesanal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486892" y="4138513"/>
            <a:ext cx="4374573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Horas copiando tarifas de sites e montando PDF, sem saber se o cliente abriu.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00775" y="3530898"/>
            <a:ext cx="5175250" cy="1362472"/>
          </a:xfrm>
          <a:prstGeom prst="roundRect">
            <a:avLst>
              <a:gd name="adj" fmla="val 9088"/>
            </a:avLst>
          </a:prstGeom>
          <a:solidFill>
            <a:srgbClr val="FFFFFF"/>
          </a:solidFill>
          <a:ln w="6350">
            <a:solidFill>
              <a:srgbClr val="DCE5EE"/>
            </a:solidFill>
            <a:prstDash val="solid"/>
          </a:ln>
        </p:spPr>
      </p:sp>
      <p:pic>
        <p:nvPicPr>
          <p:cNvPr id="17" name="Image 3" descr="Warning">    </p:cNvPr>
          <p:cNvPicPr>
            <a:picLocks noChangeAspect="1"/>
          </p:cNvPicPr>
          <p:nvPr/>
        </p:nvPicPr>
        <p:blipFill>
          <a:blip r:embed="rId4"/>
          <a:srcRect l="-580" r="-580" t="0" b="0"/>
          <a:stretch/>
        </p:blipFill>
        <p:spPr>
          <a:xfrm>
            <a:off x="6457950" y="3788073"/>
            <a:ext cx="224830" cy="355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60580" y="3788073"/>
            <a:ext cx="438601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Dinheiro sem controle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860580" y="4138513"/>
            <a:ext cx="438601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Comissões difíceis de conferir, margem por venda desconhecida, caixa no escuro.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 Platform · Case para agências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49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Uma jornada só, do desejo ao pós-viagem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134096"/>
            <a:ext cx="1238250" cy="841871"/>
          </a:xfrm>
          <a:prstGeom prst="roundRect">
            <a:avLst>
              <a:gd name="adj" fmla="val 13200"/>
            </a:avLst>
          </a:prstGeom>
          <a:solidFill>
            <a:srgbClr val="FFFFFF"/>
          </a:solidFill>
          <a:ln w="6350">
            <a:solidFill>
              <a:srgbClr val="DCE5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6895" y="2289671"/>
            <a:ext cx="22721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49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3929" y="2571552"/>
            <a:ext cx="64234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Desejo</a:t>
            </a:r>
            <a:endParaRPr lang="en-US" sz="1400" dirty="0"/>
          </a:p>
        </p:txBody>
      </p:sp>
      <p:pic>
        <p:nvPicPr>
          <p:cNvPr id="7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57400" y="2516882"/>
            <a:ext cx="304800" cy="76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365375" y="2134096"/>
            <a:ext cx="1238250" cy="841871"/>
          </a:xfrm>
          <a:prstGeom prst="roundRect">
            <a:avLst>
              <a:gd name="adj" fmla="val 13200"/>
            </a:avLst>
          </a:prstGeom>
          <a:solidFill>
            <a:srgbClr val="FFFFFF"/>
          </a:solidFill>
          <a:ln w="6350">
            <a:solidFill>
              <a:srgbClr val="DCE5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79030" y="2289671"/>
            <a:ext cx="26164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49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677815" y="2571552"/>
            <a:ext cx="61337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Oferta</a:t>
            </a:r>
            <a:endParaRPr lang="en-US" sz="1400" dirty="0"/>
          </a:p>
        </p:txBody>
      </p:sp>
      <p:pic>
        <p:nvPicPr>
          <p:cNvPr id="11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06800" y="2516882"/>
            <a:ext cx="304800" cy="76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914775" y="2134096"/>
            <a:ext cx="1238250" cy="841871"/>
          </a:xfrm>
          <a:prstGeom prst="roundRect">
            <a:avLst>
              <a:gd name="adj" fmla="val 13200"/>
            </a:avLst>
          </a:prstGeom>
          <a:solidFill>
            <a:srgbClr val="FFFFFF"/>
          </a:solidFill>
          <a:ln w="6350">
            <a:solidFill>
              <a:srgbClr val="DCE5E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425950" y="2289671"/>
            <a:ext cx="26660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49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115098" y="2571552"/>
            <a:ext cx="83750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Proposta</a:t>
            </a:r>
            <a:endParaRPr lang="en-US" sz="1400" dirty="0"/>
          </a:p>
        </p:txBody>
      </p:sp>
      <p:pic>
        <p:nvPicPr>
          <p:cNvPr id="15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56200" y="2516882"/>
            <a:ext cx="304800" cy="762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64175" y="2134096"/>
            <a:ext cx="1238250" cy="841871"/>
          </a:xfrm>
          <a:prstGeom prst="roundRect">
            <a:avLst>
              <a:gd name="adj" fmla="val 13200"/>
            </a:avLst>
          </a:prstGeom>
          <a:solidFill>
            <a:srgbClr val="0F2A4A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971480" y="2289671"/>
            <a:ext cx="27443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781576" y="2571552"/>
            <a:ext cx="60334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8F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Venda</a:t>
            </a:r>
            <a:endParaRPr lang="en-US" sz="1400" dirty="0"/>
          </a:p>
        </p:txBody>
      </p:sp>
      <p:pic>
        <p:nvPicPr>
          <p:cNvPr id="19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05600" y="2516882"/>
            <a:ext cx="304800" cy="762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013575" y="2134096"/>
            <a:ext cx="1238250" cy="841871"/>
          </a:xfrm>
          <a:prstGeom prst="roundRect">
            <a:avLst>
              <a:gd name="adj" fmla="val 13200"/>
            </a:avLst>
          </a:prstGeom>
          <a:solidFill>
            <a:srgbClr val="FFFFFF"/>
          </a:solidFill>
          <a:ln w="6350">
            <a:solidFill>
              <a:srgbClr val="DCE5EE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523262" y="2289671"/>
            <a:ext cx="26957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49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279580" y="2571552"/>
            <a:ext cx="70623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Viagem</a:t>
            </a:r>
            <a:endParaRPr lang="en-US" sz="1400" dirty="0"/>
          </a:p>
        </p:txBody>
      </p:sp>
      <p:pic>
        <p:nvPicPr>
          <p:cNvPr id="23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255000" y="2516882"/>
            <a:ext cx="304800" cy="7620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562975" y="2134096"/>
            <a:ext cx="1238250" cy="841871"/>
          </a:xfrm>
          <a:prstGeom prst="roundRect">
            <a:avLst>
              <a:gd name="adj" fmla="val 13200"/>
            </a:avLst>
          </a:prstGeom>
          <a:solidFill>
            <a:srgbClr val="FFFFFF"/>
          </a:solidFill>
          <a:ln w="6350">
            <a:solidFill>
              <a:srgbClr val="DCE5EE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9071570" y="2289671"/>
            <a:ext cx="2717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49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8726686" y="2571552"/>
            <a:ext cx="91082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</a:t>
            </a:r>
            <a:endParaRPr lang="en-US" sz="1400" dirty="0"/>
          </a:p>
        </p:txBody>
      </p:sp>
      <p:pic>
        <p:nvPicPr>
          <p:cNvPr id="27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804400" y="2516882"/>
            <a:ext cx="304800" cy="7620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10112375" y="2009676"/>
            <a:ext cx="1238250" cy="1090712"/>
          </a:xfrm>
          <a:prstGeom prst="roundRect">
            <a:avLst>
              <a:gd name="adj" fmla="val 10188"/>
            </a:avLst>
          </a:prstGeom>
          <a:solidFill>
            <a:srgbClr val="FFFFFF"/>
          </a:solidFill>
          <a:ln w="6350">
            <a:solidFill>
              <a:srgbClr val="DCE5EE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10629602" y="2165251"/>
            <a:ext cx="25459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749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10191750" y="2447131"/>
            <a:ext cx="10795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Pós-viagem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831850" y="3509963"/>
            <a:ext cx="0" cy="1183382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054100" y="3560763"/>
            <a:ext cx="316989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 redigitação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1054100" y="3896023"/>
            <a:ext cx="3169894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proposta nasce da oferta e do desejo; a venda nasce da proposta; a viagem nasce da venda.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4455517" y="3509963"/>
            <a:ext cx="0" cy="1183382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4677767" y="3560763"/>
            <a:ext cx="316999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Histórico completo</a:t>
            </a:r>
            <a:endParaRPr lang="en-US" sz="1700" dirty="0"/>
          </a:p>
        </p:txBody>
      </p:sp>
      <p:sp>
        <p:nvSpPr>
          <p:cNvPr id="36" name="Text 28"/>
          <p:cNvSpPr/>
          <p:nvPr/>
        </p:nvSpPr>
        <p:spPr>
          <a:xfrm>
            <a:off x="4677767" y="3896023"/>
            <a:ext cx="316999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Todo o caminho fica registrado no Cliente 360, visível para quem tem permissão.</a:t>
            </a:r>
            <a:endParaRPr lang="en-US" sz="1400" dirty="0"/>
          </a:p>
        </p:txBody>
      </p:sp>
      <p:sp>
        <p:nvSpPr>
          <p:cNvPr id="37" name="Shape 29"/>
          <p:cNvSpPr/>
          <p:nvPr/>
        </p:nvSpPr>
        <p:spPr>
          <a:xfrm>
            <a:off x="8079284" y="3509963"/>
            <a:ext cx="0" cy="1183382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8301534" y="3560763"/>
            <a:ext cx="316999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Financeiro amarrado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301534" y="3896023"/>
            <a:ext cx="316999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venda gera recebíveis, custos e comissões, e o caixa fecha sozinho.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 Platform · Case para agências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49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QUEM USA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Uma experiência para cada lado da mesa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55701"/>
            <a:ext cx="3386634" cy="2863652"/>
          </a:xfrm>
          <a:prstGeom prst="roundRect">
            <a:avLst>
              <a:gd name="adj" fmla="val 53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F2A4A">
                <a:alpha val="8000"/>
              </a:srgbClr>
            </a:outerShdw>
          </a:effectLst>
        </p:spPr>
      </p:sp>
      <p:pic>
        <p:nvPicPr>
          <p:cNvPr id="5" name="Image 0" descr="Hom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7600" y="2260501"/>
            <a:ext cx="40640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7600" y="2793901"/>
            <a:ext cx="28603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Painel da Agência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17600" y="3225701"/>
            <a:ext cx="2860345" cy="1314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Dono, gerente, vendedor e operação. CRM, pipeline, propostas, viagens, financeiro, equipe e relatórios, com acesso por papel.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02634" y="1955701"/>
            <a:ext cx="3386733" cy="2863652"/>
          </a:xfrm>
          <a:prstGeom prst="roundRect">
            <a:avLst>
              <a:gd name="adj" fmla="val 53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F2A4A">
                <a:alpha val="8000"/>
              </a:srgbClr>
            </a:outerShdw>
          </a:effectLst>
        </p:spPr>
      </p:sp>
      <p:pic>
        <p:nvPicPr>
          <p:cNvPr id="9" name="Image 1" descr="Glob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7434" y="2260501"/>
            <a:ext cx="40640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07434" y="2793901"/>
            <a:ext cx="286044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 do Viajante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707434" y="3225701"/>
            <a:ext cx="2860447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PWA instalável no celular. O cliente vê próximas viagens, fotos, documentos, propostas e ofertas, e diz “tenho interesse”.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992566" y="1955701"/>
            <a:ext cx="3386634" cy="2863652"/>
          </a:xfrm>
          <a:prstGeom prst="roundRect">
            <a:avLst>
              <a:gd name="adj" fmla="val 53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F2A4A">
                <a:alpha val="8000"/>
              </a:srgbClr>
            </a:outerShdw>
          </a:effectLst>
        </p:spPr>
      </p:sp>
      <p:pic>
        <p:nvPicPr>
          <p:cNvPr id="13" name="Image 2" descr="Wrenc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97366" y="2260501"/>
            <a:ext cx="406400" cy="406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97366" y="2793901"/>
            <a:ext cx="28603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97366" y="3225701"/>
            <a:ext cx="2860345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Terrestre, aéreo e excursões: agenda de transporte, rotas com pontos de parada, passageiros e ocorrências do dia.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 Platform · Case para agências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49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FUNCIONALIDADE 1 DE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03920"/>
            <a:ext cx="405511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 360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8701"/>
            <a:ext cx="405511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Tudo o que a agência sabe sobre uma pessoa, em uma tela só.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2575421"/>
            <a:ext cx="3937000" cy="1102122"/>
          </a:xfrm>
          <a:prstGeom prst="roundRect">
            <a:avLst>
              <a:gd name="adj" fmla="val 10371"/>
            </a:avLst>
          </a:prstGeom>
          <a:solidFill>
            <a:srgbClr val="CFFAF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753221"/>
            <a:ext cx="3636518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a agência:</a:t>
            </a:r>
            <a:r>
              <a:rPr lang="en-US" sz="1400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qualquer vendedor atende o cliente como se o conhecesse há anos.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210175" y="815975"/>
            <a:ext cx="6165850" cy="4446885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6350">
            <a:solidFill>
              <a:srgbClr val="DCE5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18150" y="2036266"/>
            <a:ext cx="5549900" cy="0"/>
          </a:xfrm>
          <a:prstGeom prst="line">
            <a:avLst/>
          </a:prstGeom>
          <a:noFill/>
          <a:ln w="6350">
            <a:solidFill>
              <a:srgbClr val="DCE5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18150" y="1098550"/>
            <a:ext cx="571639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Histórico completo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18150" y="1393130"/>
            <a:ext cx="571639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Dados, endereços, dependentes e acompanhantes, desejos, propostas, vendas, viagens e reservas.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18150" y="3154958"/>
            <a:ext cx="5549900" cy="0"/>
          </a:xfrm>
          <a:prstGeom prst="line">
            <a:avLst/>
          </a:prstGeom>
          <a:noFill/>
          <a:ln w="6350">
            <a:solidFill>
              <a:srgbClr val="DCE5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18150" y="2217241"/>
            <a:ext cx="571639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Documentos com leitura automática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18150" y="2511822"/>
            <a:ext cx="571639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Passaporte e RG com upload seguro, validade e extração de dados por OCR (Google Vision).*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18150" y="4273649"/>
            <a:ext cx="5549900" cy="0"/>
          </a:xfrm>
          <a:prstGeom prst="line">
            <a:avLst/>
          </a:prstGeom>
          <a:noFill/>
          <a:ln w="6350">
            <a:solidFill>
              <a:srgbClr val="DCE5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18150" y="3335933"/>
            <a:ext cx="571639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Sinais de interesse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18150" y="3630513"/>
            <a:ext cx="571639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Mostra quando o cliente abriu uma oferta ou proposta no app, e quando voltou a ela.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18150" y="4454624"/>
            <a:ext cx="571639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Dados pessoais protegidos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18150" y="4749205"/>
            <a:ext cx="571639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CPF e número de documento mascarados em logs e trilha de auditoria.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 Platform · Case para agências · 6   |   * OCR depende de chave do Google Vision configurada no ambiente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49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FUNCIONALIDADE 2 DE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03920"/>
            <a:ext cx="405511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Proposta Visual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8701"/>
            <a:ext cx="4055110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proposta deixa de ser um PDF e vira uma página de viagem no celular do cliente.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2859881"/>
            <a:ext cx="3937000" cy="1102122"/>
          </a:xfrm>
          <a:prstGeom prst="roundRect">
            <a:avLst>
              <a:gd name="adj" fmla="val 10371"/>
            </a:avLst>
          </a:prstGeom>
          <a:solidFill>
            <a:srgbClr val="CFFAF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3037681"/>
            <a:ext cx="3636518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a agência:</a:t>
            </a:r>
            <a:r>
              <a:rPr lang="en-US" sz="1400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propostas mais bonitas, montadas em minutos, com retorno de quem leu.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210175" y="815975"/>
            <a:ext cx="6165850" cy="4446885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6350">
            <a:solidFill>
              <a:srgbClr val="DCE5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18150" y="1805186"/>
            <a:ext cx="5549900" cy="0"/>
          </a:xfrm>
          <a:prstGeom prst="line">
            <a:avLst/>
          </a:prstGeom>
          <a:noFill/>
          <a:ln w="6350">
            <a:solidFill>
              <a:srgbClr val="DCE5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18150" y="1098550"/>
            <a:ext cx="571639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Capa e galeria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18150" y="1393130"/>
            <a:ext cx="571639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Título, destino, período, viajantes, texto de abertura e fotos da viagem.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18150" y="2923877"/>
            <a:ext cx="5549900" cy="0"/>
          </a:xfrm>
          <a:prstGeom prst="line">
            <a:avLst/>
          </a:prstGeom>
          <a:noFill/>
          <a:ln w="6350">
            <a:solidFill>
              <a:srgbClr val="DCE5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18150" y="1986161"/>
            <a:ext cx="571639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Conteúdo em blocos prontos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18150" y="2280741"/>
            <a:ext cx="571639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Roteiro dia a dia, transporte, hospedagem, experiências, inclusões, exclusões e formas de pagamento.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18150" y="4042569"/>
            <a:ext cx="5549900" cy="0"/>
          </a:xfrm>
          <a:prstGeom prst="line">
            <a:avLst/>
          </a:prstGeom>
          <a:noFill/>
          <a:ln w="6350">
            <a:solidFill>
              <a:srgbClr val="DCE5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18150" y="3104852"/>
            <a:ext cx="571639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Preço calculado no servidor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18150" y="3399433"/>
            <a:ext cx="571639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= preço − desconto, sempre validado. Ninguém manda um valor errado por engano.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18150" y="4223544"/>
            <a:ext cx="571639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Duplicar e reaproveitar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18150" y="4518124"/>
            <a:ext cx="571639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Copie uma proposta de sucesso com seções, itens e fotos para o próximo cliente.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 Platform · Case para agências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FUNCIONALIDADE 3 DE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5F8F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Pescador de Ofertas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727101"/>
            <a:ext cx="91567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FD9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Pesquisa tarifas nos sites que a agência já usa e transforma o achado em oferta com um clique.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2651621"/>
            <a:ext cx="2374900" cy="2008684"/>
          </a:xfrm>
          <a:prstGeom prst="roundRect">
            <a:avLst>
              <a:gd name="adj" fmla="val 6323"/>
            </a:avLst>
          </a:prstGeom>
          <a:solidFill>
            <a:srgbClr val="163A61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2880221"/>
            <a:ext cx="197523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· Fontes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41400" y="3187502"/>
            <a:ext cx="1975231" cy="1269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8F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agência cadastra os sites onde busca tarifas, com origem, destino e datas como variáveis.</a:t>
            </a:r>
            <a:endParaRPr lang="en-US" sz="1400" dirty="0"/>
          </a:p>
        </p:txBody>
      </p:sp>
      <p:pic>
        <p:nvPicPr>
          <p:cNvPr id="8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87700" y="2651621"/>
            <a:ext cx="355600" cy="76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43300" y="2651621"/>
            <a:ext cx="2374900" cy="2008684"/>
          </a:xfrm>
          <a:prstGeom prst="roundRect">
            <a:avLst>
              <a:gd name="adj" fmla="val 6323"/>
            </a:avLst>
          </a:prstGeom>
          <a:solidFill>
            <a:srgbClr val="163A61"/>
          </a:solidFill>
          <a:ln/>
        </p:spPr>
      </p:sp>
      <p:sp>
        <p:nvSpPr>
          <p:cNvPr id="10" name="Text 7"/>
          <p:cNvSpPr/>
          <p:nvPr/>
        </p:nvSpPr>
        <p:spPr>
          <a:xfrm>
            <a:off x="3771900" y="2880221"/>
            <a:ext cx="197523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· Pesquisa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771900" y="3187502"/>
            <a:ext cx="1975231" cy="1269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8F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Uma busca consulta até 10 fontes de uma vez e extrai título e preço reais de cada uma.</a:t>
            </a:r>
            <a:endParaRPr lang="en-US" sz="1400" dirty="0"/>
          </a:p>
        </p:txBody>
      </p:sp>
      <p:pic>
        <p:nvPicPr>
          <p:cNvPr id="12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18200" y="2651621"/>
            <a:ext cx="355600" cy="762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73800" y="2651621"/>
            <a:ext cx="2374900" cy="2008684"/>
          </a:xfrm>
          <a:prstGeom prst="roundRect">
            <a:avLst>
              <a:gd name="adj" fmla="val 6323"/>
            </a:avLst>
          </a:prstGeom>
          <a:solidFill>
            <a:srgbClr val="163A61"/>
          </a:solidFill>
          <a:ln/>
        </p:spPr>
      </p:sp>
      <p:sp>
        <p:nvSpPr>
          <p:cNvPr id="14" name="Text 10"/>
          <p:cNvSpPr/>
          <p:nvPr/>
        </p:nvSpPr>
        <p:spPr>
          <a:xfrm>
            <a:off x="6502400" y="2880221"/>
            <a:ext cx="197523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· Revisão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502400" y="3187502"/>
            <a:ext cx="1975231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8F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Nada é publicado sozinho: o agente revisa, ajusta e aprova.</a:t>
            </a:r>
            <a:endParaRPr lang="en-US" sz="1400" dirty="0"/>
          </a:p>
        </p:txBody>
      </p:sp>
      <p:pic>
        <p:nvPicPr>
          <p:cNvPr id="16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48700" y="2651621"/>
            <a:ext cx="355600" cy="762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004300" y="2651621"/>
            <a:ext cx="2374900" cy="2008684"/>
          </a:xfrm>
          <a:prstGeom prst="roundRect">
            <a:avLst>
              <a:gd name="adj" fmla="val 6323"/>
            </a:avLst>
          </a:prstGeom>
          <a:solidFill>
            <a:srgbClr val="22D3EE"/>
          </a:solidFill>
          <a:ln/>
        </p:spPr>
      </p:sp>
      <p:sp>
        <p:nvSpPr>
          <p:cNvPr id="18" name="Text 13"/>
          <p:cNvSpPr/>
          <p:nvPr/>
        </p:nvSpPr>
        <p:spPr>
          <a:xfrm>
            <a:off x="9232900" y="2880221"/>
            <a:ext cx="197523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· Oferta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232900" y="3187502"/>
            <a:ext cx="1975231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resultado vira oferta oficial, pronta para proposta e para o app.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12800" y="5015905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8F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a agência:</a:t>
            </a:r>
            <a:r>
              <a:rPr lang="en-US" sz="1400" dirty="0">
                <a:solidFill>
                  <a:srgbClr val="F5F8F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menos horas copiando e colando tarifa, mais tempo vendendo.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 Platform · Case para agências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49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FUNCIONALIDADE 4 DE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03920"/>
            <a:ext cx="405511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Motor comercial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8701"/>
            <a:ext cx="4055110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 primeiro contato à campanha de retorno, com a equipe sempre sabendo o próximo passo.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2859881"/>
            <a:ext cx="3937000" cy="1102122"/>
          </a:xfrm>
          <a:prstGeom prst="roundRect">
            <a:avLst>
              <a:gd name="adj" fmla="val 10371"/>
            </a:avLst>
          </a:prstGeom>
          <a:solidFill>
            <a:srgbClr val="CFFAF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3037681"/>
            <a:ext cx="3636518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a agência:</a:t>
            </a:r>
            <a:r>
              <a:rPr lang="en-US" sz="1400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nenhuma oportunidade esquecida, e campanhas para quem realmente vai comprar.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210175" y="815975"/>
            <a:ext cx="6165850" cy="4446885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6350">
            <a:solidFill>
              <a:srgbClr val="DCE5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18150" y="2036266"/>
            <a:ext cx="5549900" cy="0"/>
          </a:xfrm>
          <a:prstGeom prst="line">
            <a:avLst/>
          </a:prstGeom>
          <a:noFill/>
          <a:ln w="6350">
            <a:solidFill>
              <a:srgbClr val="DCE5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18150" y="1098550"/>
            <a:ext cx="571639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Pipelines configuráveis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18150" y="1393130"/>
            <a:ext cx="571639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Vários funis por agência, etapas próprias, responsável e próxima ação em cada oportunidade.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18150" y="2923877"/>
            <a:ext cx="5549900" cy="0"/>
          </a:xfrm>
          <a:prstGeom prst="line">
            <a:avLst/>
          </a:prstGeom>
          <a:noFill/>
          <a:ln w="6350">
            <a:solidFill>
              <a:srgbClr val="DCE5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18150" y="2217241"/>
            <a:ext cx="571639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Minhas Tarefas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18150" y="2511822"/>
            <a:ext cx="571639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Follow-ups com prazo e dono, ligados ao cliente e à oportunidade.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18150" y="4042569"/>
            <a:ext cx="5549900" cy="0"/>
          </a:xfrm>
          <a:prstGeom prst="line">
            <a:avLst/>
          </a:prstGeom>
          <a:noFill/>
          <a:ln w="6350">
            <a:solidFill>
              <a:srgbClr val="DCE5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18150" y="3104852"/>
            <a:ext cx="571639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Segmentação que se atualiza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18150" y="3399433"/>
            <a:ext cx="571639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“Quem viajou de excursão e está há 90 dias sem contato”: o segmento guarda a regra e recalcula sozinho.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18150" y="4223544"/>
            <a:ext cx="571639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Campanhas, cupons e WhatsApp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18150" y="4518124"/>
            <a:ext cx="571639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Banners no app, cupons, links de cadastro remoto e mensagens prontas via link do WhatsApp.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 Platform · Case para agências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49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FUNCIONALIDADE 5 DE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03920"/>
            <a:ext cx="4055110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Financeiro e comissões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275681"/>
            <a:ext cx="405511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dono sabe quanto ganhou em cada venda e quanto deve a cada vendedor.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3022402"/>
            <a:ext cx="3937000" cy="853281"/>
          </a:xfrm>
          <a:prstGeom prst="roundRect">
            <a:avLst>
              <a:gd name="adj" fmla="val 13395"/>
            </a:avLst>
          </a:prstGeom>
          <a:solidFill>
            <a:srgbClr val="CFFAF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3200202"/>
            <a:ext cx="363651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a agência:</a:t>
            </a:r>
            <a:r>
              <a:rPr lang="en-US" sz="1400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fim da discussão sobre comissão e do caixa no escuro.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210175" y="815975"/>
            <a:ext cx="6165850" cy="4677966"/>
          </a:xfrm>
          <a:prstGeom prst="roundRect">
            <a:avLst>
              <a:gd name="adj" fmla="val 3190"/>
            </a:avLst>
          </a:prstGeom>
          <a:solidFill>
            <a:srgbClr val="FFFFFF"/>
          </a:solidFill>
          <a:ln w="6350">
            <a:solidFill>
              <a:srgbClr val="DCE5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18150" y="2036266"/>
            <a:ext cx="5549900" cy="0"/>
          </a:xfrm>
          <a:prstGeom prst="line">
            <a:avLst/>
          </a:prstGeom>
          <a:noFill/>
          <a:ln w="6350">
            <a:solidFill>
              <a:srgbClr val="DCE5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18150" y="1098550"/>
            <a:ext cx="571639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Gestão completa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18150" y="1393130"/>
            <a:ext cx="571639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Contas a pagar e receber, fluxo de caixa, centros de custo, despesas, folha e DRE gerencial.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18150" y="3154958"/>
            <a:ext cx="5549900" cy="0"/>
          </a:xfrm>
          <a:prstGeom prst="line">
            <a:avLst/>
          </a:prstGeom>
          <a:noFill/>
          <a:ln w="6350">
            <a:solidFill>
              <a:srgbClr val="DCE5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18150" y="2217241"/>
            <a:ext cx="571639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Margem por venda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18150" y="2511822"/>
            <a:ext cx="571639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“história financeira” de cada venda: receita, custos de fornecedor e resultado.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18150" y="4273649"/>
            <a:ext cx="5549900" cy="0"/>
          </a:xfrm>
          <a:prstGeom prst="line">
            <a:avLst/>
          </a:prstGeom>
          <a:noFill/>
          <a:ln w="6350">
            <a:solidFill>
              <a:srgbClr val="DCE5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18150" y="3335933"/>
            <a:ext cx="571639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Comissão por vendedor e produto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18150" y="3630513"/>
            <a:ext cx="571639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Regras diferentes para aéreo, excursão, hotel, seguro…, em percentual ou valor fixo, com vigência.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18150" y="4454624"/>
            <a:ext cx="571639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 comissão em dobro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18150" y="4749205"/>
            <a:ext cx="571639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banco de dados impede lançar duas vezes a mesma comissão, e o histórico da regra fica guardado.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 Platform · Case para agências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49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DIFERENCIAL TÉCNICO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 dados da sua agência ficam só com a sua agência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101"/>
            <a:ext cx="3403600" cy="2082502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/>
        </p:spPr>
      </p:sp>
      <p:pic>
        <p:nvPicPr>
          <p:cNvPr id="5" name="Image 0" descr="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1400" y="2082701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1400" y="2463701"/>
            <a:ext cx="303479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Isolamento duplo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41400" y="2783681"/>
            <a:ext cx="3034792" cy="94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sistema e o próprio banco (RLS) bloqueiam acesso cruzado. Sem agência identificada, a consulta volta vazia.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94200" y="1854101"/>
            <a:ext cx="3403600" cy="2082502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/>
        </p:spPr>
      </p:sp>
      <p:pic>
        <p:nvPicPr>
          <p:cNvPr id="9" name="Image 1" descr="Key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22800" y="2082701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22800" y="2463701"/>
            <a:ext cx="303479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Papéis e 2FA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622800" y="2783681"/>
            <a:ext cx="3034792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Dono, gerente, agente e leitor com permissões distintas, login em duas etapas e sessões revogáveis.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75600" y="1854101"/>
            <a:ext cx="3403600" cy="2082502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/>
        </p:spPr>
      </p:sp>
      <p:pic>
        <p:nvPicPr>
          <p:cNvPr id="13" name="Image 2" descr="Verified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04200" y="2082701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04200" y="2463701"/>
            <a:ext cx="303479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Tudo auditado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204200" y="2783681"/>
            <a:ext cx="3034792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Ações sensíveis ficam registradas, com dados pessoais mascarados. Backup e restauração já testados.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2800" y="4203303"/>
            <a:ext cx="250825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12800" y="4343003"/>
            <a:ext cx="2583498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</a:t>
            </a:r>
            <a:endParaRPr lang="en-US" sz="3600" dirty="0"/>
          </a:p>
        </p:txBody>
      </p:sp>
      <p:sp>
        <p:nvSpPr>
          <p:cNvPr id="18" name="Text 13"/>
          <p:cNvSpPr/>
          <p:nvPr/>
        </p:nvSpPr>
        <p:spPr>
          <a:xfrm>
            <a:off x="812800" y="4871244"/>
            <a:ext cx="258349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verificações automáticas a cada atualização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498850" y="4203303"/>
            <a:ext cx="250825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498850" y="4343003"/>
            <a:ext cx="2583498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197</a:t>
            </a:r>
            <a:endParaRPr lang="en-US" sz="3600" dirty="0"/>
          </a:p>
        </p:txBody>
      </p:sp>
      <p:sp>
        <p:nvSpPr>
          <p:cNvPr id="21" name="Text 16"/>
          <p:cNvSpPr/>
          <p:nvPr/>
        </p:nvSpPr>
        <p:spPr>
          <a:xfrm>
            <a:off x="3498850" y="4871244"/>
            <a:ext cx="25834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arquivos de testes automatizados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184900" y="4203303"/>
            <a:ext cx="250825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184900" y="4343003"/>
            <a:ext cx="2583498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20/20</a:t>
            </a:r>
            <a:endParaRPr lang="en-US" sz="3600" dirty="0"/>
          </a:p>
        </p:txBody>
      </p:sp>
      <p:sp>
        <p:nvSpPr>
          <p:cNvPr id="24" name="Text 19"/>
          <p:cNvSpPr/>
          <p:nvPr/>
        </p:nvSpPr>
        <p:spPr>
          <a:xfrm>
            <a:off x="6184900" y="4871244"/>
            <a:ext cx="258349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testes de segurança aprovados no piloto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870950" y="4203303"/>
            <a:ext cx="250825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870950" y="4343003"/>
            <a:ext cx="2583498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</a:t>
            </a:r>
            <a:endParaRPr lang="en-US" sz="3600" dirty="0"/>
          </a:p>
        </p:txBody>
      </p:sp>
      <p:sp>
        <p:nvSpPr>
          <p:cNvPr id="27" name="Text 22"/>
          <p:cNvSpPr/>
          <p:nvPr/>
        </p:nvSpPr>
        <p:spPr>
          <a:xfrm>
            <a:off x="8870950" y="4871244"/>
            <a:ext cx="258349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segredos expostos no código (varredura)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 Platform · Case para agências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49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ARQUITETURA E TECNOLOGIA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Tecnologia de mercado, escolhida para crescer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4901"/>
          <a:ext cx="10566400" cy="2977059"/>
        </p:xfrm>
        <a:graphic>
          <a:graphicData uri="http://schemas.openxmlformats.org/drawingml/2006/table">
            <a:tbl>
              <a:tblPr/>
              <a:tblGrid>
                <a:gridCol w="1901952"/>
                <a:gridCol w="3592576"/>
                <a:gridCol w="5071872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8F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Camada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8F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Tecnologia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8F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 que isso significa para a agência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Telas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React 19, TypeScript, Tailwind, PWA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Rápido no computador e no celular; app instalável sem loja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352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Servidor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Node.js 24 + Fastify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Respostas rápidas mesmo com muitas agências ao mesmo tempo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Dados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PostgreSQL com RLS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Banco robusto, com isolamento por agência no próprio banco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352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Arquivos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Supabase Storage (chave segura)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Documentos e fotos guardados fora do servidor, sem link exposto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Integrações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Resend, Google Vision, Meta*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E-mail transacional real, OCR e publicação em redes sociais*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Nuvem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Vercel (telas) + Render (API)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Atualizações sem parar a operação; escala conforme o uso*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024959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 Platform · Case para agências · 12   |   * Conector Meta implementado; confirmar se está ativo no piloto. Escala depende do plano de hospedagem.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49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que vem a seguir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58876"/>
            <a:ext cx="3380284" cy="2225873"/>
          </a:xfrm>
          <a:prstGeom prst="roundRect">
            <a:avLst>
              <a:gd name="adj" fmla="val 5563"/>
            </a:avLst>
          </a:prstGeom>
          <a:solidFill>
            <a:srgbClr val="FFFFFF"/>
          </a:solidFill>
          <a:ln w="6350">
            <a:solidFill>
              <a:srgbClr val="DCE5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216051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49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PRÓXIMO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2530971"/>
            <a:ext cx="2951912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Proposta com link e aceite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3150" y="3181052"/>
            <a:ext cx="295191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Link seguro para o cliente abrir sem login e aceitar a proposta, virando venda na hora.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5809" y="1958876"/>
            <a:ext cx="3380383" cy="2225873"/>
          </a:xfrm>
          <a:prstGeom prst="roundRect">
            <a:avLst>
              <a:gd name="adj" fmla="val 5563"/>
            </a:avLst>
          </a:prstGeom>
          <a:solidFill>
            <a:srgbClr val="FFFFFF"/>
          </a:solidFill>
          <a:ln w="6350">
            <a:solidFill>
              <a:srgbClr val="DCE5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2984" y="2216051"/>
            <a:ext cx="29520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49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 SEGUIDA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2984" y="2530971"/>
            <a:ext cx="2952014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Roteiro dia a dia com vouchers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2984" y="3181052"/>
            <a:ext cx="2952014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viagem montada por dia no app do cliente, com voos, transfers, passeios e vouchers anexados.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5741" y="1958876"/>
            <a:ext cx="3380284" cy="2225873"/>
          </a:xfrm>
          <a:prstGeom prst="roundRect">
            <a:avLst>
              <a:gd name="adj" fmla="val 5563"/>
            </a:avLst>
          </a:prstGeom>
          <a:solidFill>
            <a:srgbClr val="FFFFFF"/>
          </a:solidFill>
          <a:ln w="6350">
            <a:solidFill>
              <a:srgbClr val="DCE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2916" y="2216051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49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DEPOIS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52916" y="2530971"/>
            <a:ext cx="2951912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Match desejo × oferta e WhatsApp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52916" y="3181052"/>
            <a:ext cx="295191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Sugerir ofertas para cada desejo do cliente e enviar pela API oficial do WhatsApp Business.*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 Platform · Case para agências · 13   |   * Ordem sugerida a partir da análise de gaps do repositório; validar prioridade com o time.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49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PLANOS*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Comece pequeno, cresça no mesmo sistema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55701"/>
            <a:ext cx="3386634" cy="2600821"/>
          </a:xfrm>
          <a:prstGeom prst="roundRect">
            <a:avLst>
              <a:gd name="adj" fmla="val 586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2235101"/>
            <a:ext cx="2912669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Inicial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2200" y="2636341"/>
            <a:ext cx="2912669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2200" y="3210322"/>
            <a:ext cx="291266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Até 10 usuários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 GB de armazenamento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Recursos essenciais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34" y="1955701"/>
            <a:ext cx="3386733" cy="2600821"/>
          </a:xfrm>
          <a:prstGeom prst="roundRect">
            <a:avLst>
              <a:gd name="adj" fmla="val 5860"/>
            </a:avLst>
          </a:prstGeom>
          <a:solidFill>
            <a:srgbClr val="0F2A4A"/>
          </a:solidFill>
          <a:ln/>
        </p:spPr>
      </p:sp>
      <p:sp>
        <p:nvSpPr>
          <p:cNvPr id="9" name="Text 7"/>
          <p:cNvSpPr/>
          <p:nvPr/>
        </p:nvSpPr>
        <p:spPr>
          <a:xfrm>
            <a:off x="4682034" y="2235101"/>
            <a:ext cx="291277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Profissional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82034" y="2636341"/>
            <a:ext cx="2912771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5F8F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R$ 299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82034" y="3210322"/>
            <a:ext cx="2912771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FD9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Até 50 usuários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FD9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500 GB de armazenamento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FD9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Todos os recursos e suporte prioritário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2566" y="1955701"/>
            <a:ext cx="3386634" cy="2600821"/>
          </a:xfrm>
          <a:prstGeom prst="roundRect">
            <a:avLst>
              <a:gd name="adj" fmla="val 586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71966" y="2235101"/>
            <a:ext cx="2912669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Empresarial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71966" y="2636341"/>
            <a:ext cx="2912669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Sob consulta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271966" y="3210322"/>
            <a:ext cx="291266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Usuários ilimitados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Suporte 24/7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Gerente de conta dedicado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912122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Teste grátis com cadastro online. Importação dos dados do sistema anterior incluída na implantação.*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024959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 Platform · Case para agências · 14   |   * Valores da página de preços do site (mensais?); confirmar preço, periodicidade e o que entra na implantação.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1F38"/>
              </a:gs>
              <a:gs pos="55000">
                <a:srgbClr val="0F2A4A"/>
              </a:gs>
              <a:gs pos="100000">
                <a:srgbClr val="123B63"/>
              </a:gs>
            </a:gsLst>
            <a:lin ang="2700000" scaled="0"/>
          </a:gradFill>
          <a:ln/>
        </p:spPr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55000" y="2667000"/>
            <a:ext cx="4826000" cy="482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164723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VAMOS CONVERSAR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2183110"/>
            <a:ext cx="9156700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F5F8F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Leve sua agência para o piloto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812800" y="3768030"/>
            <a:ext cx="850265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FD9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Demonstração ao vivo com os dados da sua agência e implantação assistida.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12800" y="4784030"/>
            <a:ext cx="2534146" cy="426641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4872930"/>
            <a:ext cx="219157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travelplataforma.com.br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499346" y="4872930"/>
            <a:ext cx="184370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9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[contato / WhatsApp]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 Platform — Case para Agências</dc:title>
  <dc:subject>PptxGenJS Presentation</dc:subject>
  <dc:creator>PptxGenJS</dc:creator>
  <cp:lastModifiedBy>PptxGenJS</cp:lastModifiedBy>
  <cp:revision>1</cp:revision>
  <dcterms:created xsi:type="dcterms:W3CDTF">2026-09-22T18:43:42Z</dcterms:created>
  <dcterms:modified xsi:type="dcterms:W3CDTF">2026-09-22T18:43:42Z</dcterms:modified>
</cp:coreProperties>
</file>